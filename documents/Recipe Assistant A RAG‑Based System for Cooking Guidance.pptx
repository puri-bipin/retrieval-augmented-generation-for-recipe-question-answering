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Roboto Bold" panose="020000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1781" y="76576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55619" y="874395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01900" y="-139509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3333810" y="-1543050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86100" y="3599596"/>
            <a:ext cx="12115800" cy="141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1"/>
              </a:lnSpc>
            </a:pPr>
            <a:r>
              <a:rPr lang="en-US" sz="41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Recipe Assistant: A RAG‑Based System for Cooking Guidance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936188" y="1920463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2048664" y="4832351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513582" y="5086350"/>
            <a:ext cx="5260837" cy="97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Aadil Shakya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Bipin 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7787456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Topic and Domain / Corpus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212" y="3115250"/>
            <a:ext cx="13350305" cy="344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206" lvl="1" indent="-271103" algn="l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u="none" strike="noStrike" dirty="0">
                <a:solidFill>
                  <a:srgbClr val="31404B"/>
                </a:solidFill>
                <a:latin typeface="Canva Sans"/>
                <a:ea typeface="Canva Sans"/>
                <a:cs typeface="Canva Sans"/>
                <a:sym typeface="Canva Sans"/>
              </a:rPr>
              <a:t>Topic: Recipe‑based question answering using Retrieval‑Augmented Generation (RAG)</a:t>
            </a:r>
          </a:p>
          <a:p>
            <a:pPr marL="542206" lvl="1" indent="-271103" algn="l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u="none" strike="noStrike" dirty="0">
                <a:solidFill>
                  <a:srgbClr val="31404B"/>
                </a:solidFill>
                <a:latin typeface="Canva Sans"/>
                <a:ea typeface="Canva Sans"/>
                <a:cs typeface="Canva Sans"/>
                <a:sym typeface="Canva Sans"/>
              </a:rPr>
              <a:t>Domain / Corpus: Recipes sourced from Simply Recipes.</a:t>
            </a:r>
          </a:p>
          <a:p>
            <a:pPr marL="542206" lvl="1" indent="-271103" algn="l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u="none" strike="noStrike" dirty="0">
                <a:solidFill>
                  <a:srgbClr val="31404B"/>
                </a:solidFill>
                <a:latin typeface="Canva Sans"/>
                <a:ea typeface="Canva Sans"/>
                <a:cs typeface="Canva Sans"/>
                <a:sym typeface="Canva Sans"/>
              </a:rPr>
              <a:t>Source Data: 10–15 carefully selected recipes.</a:t>
            </a:r>
          </a:p>
          <a:p>
            <a:pPr marL="542206" lvl="1" indent="-271103" algn="l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u="none" strike="noStrike" dirty="0">
                <a:solidFill>
                  <a:srgbClr val="31404B"/>
                </a:solidFill>
                <a:latin typeface="Canva Sans"/>
                <a:ea typeface="Canva Sans"/>
                <a:cs typeface="Canva Sans"/>
                <a:sym typeface="Canva Sans"/>
              </a:rPr>
              <a:t>Format: Plain text extracted from the web, stored as individual documents.</a:t>
            </a:r>
          </a:p>
          <a:p>
            <a:pPr marL="542206" lvl="1" indent="-271103" algn="l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u="none" strike="noStrike" dirty="0">
                <a:solidFill>
                  <a:srgbClr val="31404B"/>
                </a:solidFill>
                <a:latin typeface="Canva Sans"/>
                <a:ea typeface="Canva Sans"/>
                <a:cs typeface="Canva Sans"/>
                <a:sym typeface="Canva Sans"/>
              </a:rPr>
              <a:t>Content Covered: Ingredients, step‑by‑step instructions, preparation times, nutrition facts, and chef’s tips.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7787456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Project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212" y="2606674"/>
            <a:ext cx="13350305" cy="251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206" lvl="1" indent="-271103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Build a RAG system for recipe‑based Q&amp;A</a:t>
            </a:r>
          </a:p>
          <a:p>
            <a:pPr marL="542206" lvl="1" indent="-271103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Comparison among Phi-3(14B), Mistral-7B, and Llama-3(8B)</a:t>
            </a:r>
          </a:p>
          <a:p>
            <a:pPr marL="542206" lvl="1" indent="-271103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Evaluate retrieval and generation using automated &amp; qualitative metrics</a:t>
            </a:r>
          </a:p>
          <a:p>
            <a:pPr marL="542206" lvl="1" indent="-271103">
              <a:lnSpc>
                <a:spcPts val="3967"/>
              </a:lnSpc>
              <a:spcBef>
                <a:spcPct val="0"/>
              </a:spcBef>
              <a:buFont typeface="Arial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Analyze trade-offs in Model Size, Efficiency, and Answer Quality</a:t>
            </a:r>
          </a:p>
          <a:p>
            <a:pPr algn="l">
              <a:lnSpc>
                <a:spcPts val="3967"/>
              </a:lnSpc>
              <a:spcBef>
                <a:spcPct val="0"/>
              </a:spcBef>
            </a:pPr>
            <a:endParaRPr lang="en-US" sz="2511" u="none" strike="noStrike" dirty="0">
              <a:solidFill>
                <a:srgbClr val="31404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12751961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Statement of Value – Why This Project Matters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212" y="2854324"/>
            <a:ext cx="13350305" cy="200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Helps home cooks get quick, reliable answers without reading full recipes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Reduces LLM hallucinations by grounding answers in trusted recipe sources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Provides a practical comparison of popular open‑source models for domain‑specific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4355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12751961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 dirty="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State of the Art in RAG Systems (Part 1)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4088" y="2094820"/>
            <a:ext cx="15905188" cy="2006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RAG (Lewis et al., 2020): retrieve then generate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Self‑RAG (Asai et al., 2023): self‑reflection on retrieval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Open‑source LLMs: Mistral, Phi, Gemma enable efficient deployment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RAG evaluation: RAGAS, ARES metrics for faithfulness &amp; relevance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12751961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State of the Art &amp; Relevant Works (Part 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212" y="2359024"/>
            <a:ext cx="13350305" cy="98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RecipeQA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 (</a:t>
            </a: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Yagcioglu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 et al., 2019): multimodal recipe comprehension dataset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FoodChat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: conversational agent using knowledge graphs for cooking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12751961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Approach &amp; System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212" y="2105563"/>
            <a:ext cx="12578196" cy="5084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LLMs (4‑bit quantized, run on </a:t>
            </a: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Colab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 T4 GPU):</a:t>
            </a:r>
          </a:p>
          <a:p>
            <a:pPr marL="914400" lvl="1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Phi‑3‑medium (14B)</a:t>
            </a:r>
          </a:p>
          <a:p>
            <a:pPr marL="914400" lvl="1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Mistral‑7B‑instruct (7B)</a:t>
            </a:r>
          </a:p>
          <a:p>
            <a:pPr marL="914400" lvl="1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Llama-3(8B)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Knowledge base: 10–15 plain‑text recipe documents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Architecture:</a:t>
            </a:r>
          </a:p>
          <a:p>
            <a:pPr marL="914400" lvl="1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Chunk recipes → embeddings (sentence‑transformers) → store in a vector database</a:t>
            </a:r>
          </a:p>
          <a:p>
            <a:pPr marL="914400" lvl="1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Retrieve top‑k chunks for a query</a:t>
            </a:r>
          </a:p>
          <a:p>
            <a:pPr marL="914400" lvl="1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Augment prompt with chunks → generate answer with each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38400" y="-3009900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698103"/>
            <a:ext cx="12751961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154" y="2956699"/>
            <a:ext cx="13350305" cy="251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Final Report (Design, </a:t>
            </a: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Result,Evaluation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GitHub Repository (</a:t>
            </a: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Colab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 notebook with RAG framework)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Preprocessed Data Set (10-15 recipes)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511" dirty="0">
                <a:solidFill>
                  <a:srgbClr val="31404B"/>
                </a:solidFill>
                <a:latin typeface="Canva Sans"/>
              </a:rPr>
              <a:t>Evaluation </a:t>
            </a:r>
            <a:r>
              <a:rPr lang="fr-FR" sz="2511" dirty="0" err="1">
                <a:solidFill>
                  <a:srgbClr val="31404B"/>
                </a:solidFill>
                <a:latin typeface="Canva Sans"/>
              </a:rPr>
              <a:t>Results</a:t>
            </a:r>
            <a:r>
              <a:rPr lang="fr-FR" sz="2511" dirty="0">
                <a:solidFill>
                  <a:srgbClr val="31404B"/>
                </a:solidFill>
                <a:latin typeface="Canva Sans"/>
              </a:rPr>
              <a:t> (Quantitative </a:t>
            </a:r>
            <a:r>
              <a:rPr lang="fr-FR" sz="2511" dirty="0" err="1">
                <a:solidFill>
                  <a:srgbClr val="31404B"/>
                </a:solidFill>
                <a:latin typeface="Canva Sans"/>
              </a:rPr>
              <a:t>Metrics</a:t>
            </a:r>
            <a:r>
              <a:rPr lang="fr-FR" sz="2511" dirty="0">
                <a:solidFill>
                  <a:srgbClr val="31404B"/>
                </a:solidFill>
                <a:latin typeface="Canva Sans"/>
              </a:rPr>
              <a:t> + Qualitative </a:t>
            </a:r>
            <a:r>
              <a:rPr lang="fr-FR" sz="2511" dirty="0" err="1">
                <a:solidFill>
                  <a:srgbClr val="31404B"/>
                </a:solidFill>
                <a:latin typeface="Canva Sans"/>
              </a:rPr>
              <a:t>Analysis</a:t>
            </a:r>
            <a:r>
              <a:rPr lang="fr-FR" sz="2511" dirty="0">
                <a:solidFill>
                  <a:srgbClr val="31404B"/>
                </a:solidFill>
                <a:latin typeface="Canva Sans"/>
              </a:rPr>
              <a:t>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>
                <a:solidFill>
                  <a:srgbClr val="31404B"/>
                </a:solidFill>
                <a:latin typeface="Canva Sans"/>
              </a:rPr>
              <a:t>Presentation 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S</a:t>
            </a:r>
            <a:r>
              <a:rPr lang="en-US" sz="2511">
                <a:solidFill>
                  <a:srgbClr val="31404B"/>
                </a:solidFill>
                <a:latin typeface="Canva Sans"/>
              </a:rPr>
              <a:t>lides</a:t>
            </a:r>
            <a:endParaRPr lang="en-US" sz="2511" dirty="0">
              <a:solidFill>
                <a:srgbClr val="31404B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8EFFB-F4DA-AD35-B8C7-F10988BF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6CBD9B7-1E7C-2950-5B00-2A856283C58D}"/>
              </a:ext>
            </a:extLst>
          </p:cNvPr>
          <p:cNvGrpSpPr/>
          <p:nvPr/>
        </p:nvGrpSpPr>
        <p:grpSpPr>
          <a:xfrm>
            <a:off x="-2438400" y="-3009900"/>
            <a:ext cx="19729171" cy="16927642"/>
            <a:chOff x="0" y="0"/>
            <a:chExt cx="1014692" cy="87060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E253AA1-F797-5A72-2EC5-AF28FA727367}"/>
                </a:ext>
              </a:extLst>
            </p:cNvPr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81606E-8195-A699-7AD0-829A4831831C}"/>
                </a:ext>
              </a:extLst>
            </p:cNvPr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D91A4B8-18CD-B9AB-662B-2D606FD430A4}"/>
              </a:ext>
            </a:extLst>
          </p:cNvPr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4ED8795-AC34-2307-DCCB-A15093453C09}"/>
              </a:ext>
            </a:extLst>
          </p:cNvPr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7BAE350-5E39-921F-D7DA-CAADCA0ECA23}"/>
              </a:ext>
            </a:extLst>
          </p:cNvPr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CEE77A3-3F84-2B18-08B0-71543A280E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76F83CA-379D-4418-A4E1-33AE6A787E7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8DF1249-9AFE-BFB3-B188-AB12B6CDC943}"/>
              </a:ext>
            </a:extLst>
          </p:cNvPr>
          <p:cNvSpPr txBox="1"/>
          <p:nvPr/>
        </p:nvSpPr>
        <p:spPr>
          <a:xfrm>
            <a:off x="1773212" y="1698103"/>
            <a:ext cx="12751961" cy="74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31C2125-BDAB-C14E-1D95-86495C940E06}"/>
              </a:ext>
            </a:extLst>
          </p:cNvPr>
          <p:cNvSpPr txBox="1"/>
          <p:nvPr/>
        </p:nvSpPr>
        <p:spPr>
          <a:xfrm>
            <a:off x="1428154" y="2956699"/>
            <a:ext cx="13350305" cy="251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Final Report (Design, </a:t>
            </a: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Result,Evaluation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GitHub Repository (</a:t>
            </a:r>
            <a:r>
              <a:rPr lang="en-US" sz="2511" dirty="0" err="1">
                <a:solidFill>
                  <a:srgbClr val="31404B"/>
                </a:solidFill>
                <a:latin typeface="Canva Sans"/>
              </a:rPr>
              <a:t>Colab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 notebook with RAG framework)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 dirty="0">
                <a:solidFill>
                  <a:srgbClr val="31404B"/>
                </a:solidFill>
                <a:latin typeface="Canva Sans"/>
              </a:rPr>
              <a:t>Preprocessed Data Set (10-15 recipes)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511" dirty="0">
                <a:solidFill>
                  <a:srgbClr val="31404B"/>
                </a:solidFill>
                <a:latin typeface="Canva Sans"/>
              </a:rPr>
              <a:t>Evaluation </a:t>
            </a:r>
            <a:r>
              <a:rPr lang="fr-FR" sz="2511" dirty="0" err="1">
                <a:solidFill>
                  <a:srgbClr val="31404B"/>
                </a:solidFill>
                <a:latin typeface="Canva Sans"/>
              </a:rPr>
              <a:t>Results</a:t>
            </a:r>
            <a:r>
              <a:rPr lang="fr-FR" sz="2511" dirty="0">
                <a:solidFill>
                  <a:srgbClr val="31404B"/>
                </a:solidFill>
                <a:latin typeface="Canva Sans"/>
              </a:rPr>
              <a:t> (Quantitative </a:t>
            </a:r>
            <a:r>
              <a:rPr lang="fr-FR" sz="2511" dirty="0" err="1">
                <a:solidFill>
                  <a:srgbClr val="31404B"/>
                </a:solidFill>
                <a:latin typeface="Canva Sans"/>
              </a:rPr>
              <a:t>Metrics</a:t>
            </a:r>
            <a:r>
              <a:rPr lang="fr-FR" sz="2511" dirty="0">
                <a:solidFill>
                  <a:srgbClr val="31404B"/>
                </a:solidFill>
                <a:latin typeface="Canva Sans"/>
              </a:rPr>
              <a:t> + Qualitative </a:t>
            </a:r>
            <a:r>
              <a:rPr lang="fr-FR" sz="2511" dirty="0" err="1">
                <a:solidFill>
                  <a:srgbClr val="31404B"/>
                </a:solidFill>
                <a:latin typeface="Canva Sans"/>
              </a:rPr>
              <a:t>Analysis</a:t>
            </a:r>
            <a:r>
              <a:rPr lang="fr-FR" sz="2511" dirty="0">
                <a:solidFill>
                  <a:srgbClr val="31404B"/>
                </a:solidFill>
                <a:latin typeface="Canva Sans"/>
              </a:rPr>
              <a:t>)</a:t>
            </a:r>
          </a:p>
          <a:p>
            <a:pPr marL="457200" indent="-457200">
              <a:lnSpc>
                <a:spcPts val="3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11">
                <a:solidFill>
                  <a:srgbClr val="31404B"/>
                </a:solidFill>
                <a:latin typeface="Canva Sans"/>
              </a:rPr>
              <a:t>Presentation </a:t>
            </a:r>
            <a:r>
              <a:rPr lang="en-US" sz="2511" dirty="0">
                <a:solidFill>
                  <a:srgbClr val="31404B"/>
                </a:solidFill>
                <a:latin typeface="Canva Sans"/>
              </a:rPr>
              <a:t>S</a:t>
            </a:r>
            <a:r>
              <a:rPr lang="en-US" sz="2511">
                <a:solidFill>
                  <a:srgbClr val="31404B"/>
                </a:solidFill>
                <a:latin typeface="Canva Sans"/>
              </a:rPr>
              <a:t>lides</a:t>
            </a:r>
            <a:endParaRPr lang="en-US" sz="2511" dirty="0">
              <a:solidFill>
                <a:srgbClr val="31404B"/>
              </a:solidFill>
              <a:latin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5959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212" y="1153408"/>
            <a:ext cx="12751961" cy="71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Results</a:t>
            </a:r>
            <a:endParaRPr lang="en-US" sz="4300" b="1" dirty="0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D37AF-B07B-799B-4DCB-3B74CEEF4194}"/>
              </a:ext>
            </a:extLst>
          </p:cNvPr>
          <p:cNvSpPr txBox="1"/>
          <p:nvPr/>
        </p:nvSpPr>
        <p:spPr>
          <a:xfrm>
            <a:off x="1773212" y="2400300"/>
            <a:ext cx="11327042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1404B"/>
                </a:solidFill>
                <a:latin typeface="Canva Sans"/>
              </a:rPr>
              <a:t>Phi‑3 (14B) – Highest answer relevance (0.828). Very reliable, complete sentences, correct on all key facts. Faithfulness 0.757.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1404B"/>
                </a:solidFill>
                <a:latin typeface="Canva Sans"/>
              </a:rPr>
              <a:t>Llama‑3 (8B) – Best faithfulness (0.792). Extremely concise (sometimes too short) but highly grounded in the recipe text. Relevance lower (0.761) due to very brief answers.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1404B"/>
                </a:solidFill>
                <a:latin typeface="Canva Sans"/>
              </a:rPr>
              <a:t>Mistral‑7B – Balanced (faithfulness 0.770, relevance 0.807). However, made one factual error: stated 37g protein in roast chicken instead of 60g.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1404B"/>
                </a:solidFill>
                <a:latin typeface="Canva Sans"/>
              </a:rPr>
              <a:t>All models had perfect retrieval recall (1.0) and similar precision (~0.42) – retrieval system works well.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1404B"/>
                </a:solidFill>
                <a:latin typeface="Canva Sans"/>
              </a:rPr>
              <a:t>Best overall for recipe Q&amp;A: Phi‑3 offers the best combination of accuracy, relevance, and completeness.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562</Words>
  <Application>Microsoft Office PowerPoint</Application>
  <PresentationFormat>Custom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Canva Sans</vt:lpstr>
      <vt:lpstr>Arial</vt:lpstr>
      <vt:lpstr>Open Sans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Assistant: A RAG‑Based System for Cooking Guidance</dc:title>
  <cp:lastModifiedBy>Puri, Bipin</cp:lastModifiedBy>
  <cp:revision>11</cp:revision>
  <dcterms:created xsi:type="dcterms:W3CDTF">2006-08-16T00:00:00Z</dcterms:created>
  <dcterms:modified xsi:type="dcterms:W3CDTF">2026-04-29T17:09:25Z</dcterms:modified>
  <dc:identifier>DAHFE_nDy1s</dc:identifier>
</cp:coreProperties>
</file>